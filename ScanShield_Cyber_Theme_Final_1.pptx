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omposite_image_of_a_multi_slide_presenta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731520"/>
            <a:ext cx="8321040" cy="2103120"/>
          </a:xfrm>
          <a:prstGeom prst="roundRect">
            <a:avLst/>
          </a:prstGeom>
          <a:solidFill>
            <a:srgbClr val="05122A"/>
          </a:solidFill>
          <a:ln w="317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600" b="1">
                <a:solidFill>
                  <a:srgbClr val="00D2FF"/>
                </a:solidFill>
              </a:defRPr>
            </a:pPr>
            <a:r>
              <a:t>ScanShield</a:t>
            </a:r>
          </a:p>
          <a:p>
            <a:pPr>
              <a:defRPr sz="2000" b="1">
                <a:solidFill>
                  <a:srgbClr val="F5F8FF"/>
                </a:solidFill>
              </a:defRPr>
            </a:pPr>
            <a:r>
              <a:t>Cybersecurity Website for Detecting Suspicious Links &amp; Online Threats</a:t>
            </a:r>
          </a:p>
          <a:p>
            <a:pPr>
              <a:defRPr sz="1800" b="1">
                <a:solidFill>
                  <a:srgbClr val="FFCD46"/>
                </a:solidFill>
              </a:defRPr>
            </a:pPr>
            <a:r>
              <a:t>Internship Project Presentation</a:t>
            </a:r>
          </a:p>
          <a:p>
            <a:pPr>
              <a:defRPr sz="1600">
                <a:solidFill>
                  <a:srgbClr val="F5F8FF"/>
                </a:solidFill>
              </a:defRPr>
            </a:pPr>
            <a:r>
              <a:t>Presented by: Trisha Dubey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8961120" cy="777240"/>
          </a:xfrm>
          <a:prstGeom prst="roundRect">
            <a:avLst/>
          </a:prstGeom>
          <a:solidFill>
            <a:srgbClr val="0F1C37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5F8FF"/>
                </a:solidFill>
              </a:defRPr>
            </a:pPr>
            <a:r>
              <a:t>01 | 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8732520" cy="914400"/>
          </a:xfrm>
          <a:prstGeom prst="roundRect">
            <a:avLst/>
          </a:prstGeom>
          <a:solidFill>
            <a:srgbClr val="0B1932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5F8FF"/>
                </a:solidFill>
              </a:defRPr>
            </a:pPr>
            <a:r>
              <a:t>ScanShield is a web-based cybersecurity tool designed to help users check suspicious links, messages and online content.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Simple and user-friendly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6060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Identifies potentially suspicious URLs/content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204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Shows security warnings and reasons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5204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Focuses on cybersecurity awareness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457200"/>
            <a:ext cx="1737360" cy="5852160"/>
          </a:xfrm>
          <a:prstGeom prst="roundRect">
            <a:avLst/>
          </a:prstGeom>
          <a:solidFill>
            <a:srgbClr val="0A142A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32720" y="1005840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0" y="1783080"/>
            <a:ext cx="164592" cy="164592"/>
          </a:xfrm>
          <a:prstGeom prst="ellipse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0" y="2560320"/>
            <a:ext cx="164592" cy="164592"/>
          </a:xfrm>
          <a:prstGeom prst="ellipse">
            <a:avLst/>
          </a:prstGeom>
          <a:solidFill>
            <a:srgbClr val="FF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89920" y="3337560"/>
            <a:ext cx="164592" cy="164592"/>
          </a:xfrm>
          <a:prstGeom prst="ellipse">
            <a:avLst/>
          </a:prstGeom>
          <a:solidFill>
            <a:srgbClr val="2DE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0" y="4114800"/>
            <a:ext cx="164592" cy="164592"/>
          </a:xfrm>
          <a:prstGeom prst="ellipse">
            <a:avLst/>
          </a:prstGeom>
          <a:solidFill>
            <a:srgbClr val="FFC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0" y="6080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8961120" cy="777240"/>
          </a:xfrm>
          <a:prstGeom prst="roundRect">
            <a:avLst/>
          </a:prstGeom>
          <a:solidFill>
            <a:srgbClr val="0F1C37"/>
          </a:solidFill>
          <a:ln w="2540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5F8FF"/>
                </a:solidFill>
              </a:defRPr>
            </a:pPr>
            <a:r>
              <a:t>02 |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8732520" cy="914400"/>
          </a:xfrm>
          <a:prstGeom prst="roundRect">
            <a:avLst/>
          </a:prstGeom>
          <a:solidFill>
            <a:srgbClr val="0B1932"/>
          </a:solidFill>
          <a:ln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5F8FF"/>
                </a:solidFill>
              </a:defRPr>
            </a:pPr>
            <a:r>
              <a:t>Unknown links can expose users to phishing, fake websites and other online threats.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Phishing and fake websites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6060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Malicious or misleading URLs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204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Low awareness of warning signs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5204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Difficulty judging a link before opening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457200"/>
            <a:ext cx="1737360" cy="5852160"/>
          </a:xfrm>
          <a:prstGeom prst="roundRect">
            <a:avLst/>
          </a:prstGeom>
          <a:solidFill>
            <a:srgbClr val="0A142A"/>
          </a:solidFill>
          <a:ln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32720" y="1005840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0" y="1783080"/>
            <a:ext cx="164592" cy="164592"/>
          </a:xfrm>
          <a:prstGeom prst="ellipse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0" y="2560320"/>
            <a:ext cx="164592" cy="164592"/>
          </a:xfrm>
          <a:prstGeom prst="ellipse">
            <a:avLst/>
          </a:prstGeom>
          <a:solidFill>
            <a:srgbClr val="FF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89920" y="3337560"/>
            <a:ext cx="164592" cy="164592"/>
          </a:xfrm>
          <a:prstGeom prst="ellipse">
            <a:avLst/>
          </a:prstGeom>
          <a:solidFill>
            <a:srgbClr val="2DE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0" y="4114800"/>
            <a:ext cx="164592" cy="164592"/>
          </a:xfrm>
          <a:prstGeom prst="ellipse">
            <a:avLst/>
          </a:prstGeom>
          <a:solidFill>
            <a:srgbClr val="FFC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0" y="6080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A5AFF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8961120" cy="777240"/>
          </a:xfrm>
          <a:prstGeom prst="roundRect">
            <a:avLst/>
          </a:prstGeom>
          <a:solidFill>
            <a:srgbClr val="0F1C37"/>
          </a:solidFill>
          <a:ln w="25400">
            <a:solidFill>
              <a:srgbClr val="FF4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5F8FF"/>
                </a:solidFill>
              </a:defRPr>
            </a:pPr>
            <a:r>
              <a:t>03 |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8732520" cy="914400"/>
          </a:xfrm>
          <a:prstGeom prst="roundRect">
            <a:avLst/>
          </a:prstGeom>
          <a:solidFill>
            <a:srgbClr val="0B1932"/>
          </a:solidFill>
          <a:ln>
            <a:solidFill>
              <a:srgbClr val="FF4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5F8FF"/>
                </a:solidFill>
              </a:defRPr>
            </a:pPr>
            <a:r>
              <a:t>The project focuses on making basic security checking easier for everyday users.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FF4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Detect and analyze suspicious links/content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6060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FF4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Alert users about potential threats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204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FF4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Provide clear results with understandable reasons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5204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FF4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Build a fast and user-friendly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457200"/>
            <a:ext cx="1737360" cy="5852160"/>
          </a:xfrm>
          <a:prstGeom prst="roundRect">
            <a:avLst/>
          </a:prstGeom>
          <a:solidFill>
            <a:srgbClr val="0A142A"/>
          </a:solidFill>
          <a:ln>
            <a:solidFill>
              <a:srgbClr val="FF4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32720" y="1005840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0" y="1783080"/>
            <a:ext cx="164592" cy="164592"/>
          </a:xfrm>
          <a:prstGeom prst="ellipse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0" y="2560320"/>
            <a:ext cx="164592" cy="164592"/>
          </a:xfrm>
          <a:prstGeom prst="ellipse">
            <a:avLst/>
          </a:prstGeom>
          <a:solidFill>
            <a:srgbClr val="FF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89920" y="3337560"/>
            <a:ext cx="164592" cy="164592"/>
          </a:xfrm>
          <a:prstGeom prst="ellipse">
            <a:avLst/>
          </a:prstGeom>
          <a:solidFill>
            <a:srgbClr val="2DE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0" y="4114800"/>
            <a:ext cx="164592" cy="164592"/>
          </a:xfrm>
          <a:prstGeom prst="ellipse">
            <a:avLst/>
          </a:prstGeom>
          <a:solidFill>
            <a:srgbClr val="FFC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0" y="6080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46AA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E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8961120" cy="777240"/>
          </a:xfrm>
          <a:prstGeom prst="roundRect">
            <a:avLst/>
          </a:prstGeom>
          <a:solidFill>
            <a:srgbClr val="0F1C37"/>
          </a:solidFill>
          <a:ln w="25400">
            <a:solidFill>
              <a:srgbClr val="2DE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5F8FF"/>
                </a:solidFill>
              </a:defRPr>
            </a:pPr>
            <a:r>
              <a:t>04 | 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8732520" cy="914400"/>
          </a:xfrm>
          <a:prstGeom prst="roundRect">
            <a:avLst/>
          </a:prstGeom>
          <a:solidFill>
            <a:srgbClr val="0B1932"/>
          </a:solidFill>
          <a:ln>
            <a:solidFill>
              <a:srgbClr val="2DE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5F8FF"/>
                </a:solidFill>
              </a:defRPr>
            </a:pPr>
            <a:r>
              <a:t>Core capabilities of ScanShield.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2DE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URL / suspicious-content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6060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2DE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Security analysis and result display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204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2DE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Suspicious / safer status indication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5204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2DE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Warning messages and reasons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348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2DE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Responsive web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457200"/>
            <a:ext cx="1737360" cy="5852160"/>
          </a:xfrm>
          <a:prstGeom prst="roundRect">
            <a:avLst/>
          </a:prstGeom>
          <a:solidFill>
            <a:srgbClr val="0A142A"/>
          </a:solidFill>
          <a:ln>
            <a:solidFill>
              <a:srgbClr val="2DE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0" y="1005840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783080"/>
            <a:ext cx="164592" cy="164592"/>
          </a:xfrm>
          <a:prstGeom prst="ellipse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0" y="2560320"/>
            <a:ext cx="164592" cy="164592"/>
          </a:xfrm>
          <a:prstGeom prst="ellipse">
            <a:avLst/>
          </a:prstGeom>
          <a:solidFill>
            <a:srgbClr val="FF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89920" y="3337560"/>
            <a:ext cx="164592" cy="164592"/>
          </a:xfrm>
          <a:prstGeom prst="ellipse">
            <a:avLst/>
          </a:prstGeom>
          <a:solidFill>
            <a:srgbClr val="2DE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0" y="4114800"/>
            <a:ext cx="164592" cy="164592"/>
          </a:xfrm>
          <a:prstGeom prst="ellipse">
            <a:avLst/>
          </a:prstGeom>
          <a:solidFill>
            <a:srgbClr val="FFC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0" y="6080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E196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8961120" cy="777240"/>
          </a:xfrm>
          <a:prstGeom prst="roundRect">
            <a:avLst/>
          </a:prstGeom>
          <a:solidFill>
            <a:srgbClr val="0F1C37"/>
          </a:solidFill>
          <a:ln w="25400">
            <a:solidFill>
              <a:srgbClr val="FFC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5F8FF"/>
                </a:solidFill>
              </a:defRPr>
            </a:pPr>
            <a:r>
              <a:t>05 | TECHNOLOGY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8732520" cy="914400"/>
          </a:xfrm>
          <a:prstGeom prst="roundRect">
            <a:avLst/>
          </a:prstGeom>
          <a:solidFill>
            <a:srgbClr val="0B1932"/>
          </a:solidFill>
          <a:ln>
            <a:solidFill>
              <a:srgbClr val="FFC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5F8FF"/>
                </a:solidFill>
              </a:defRPr>
            </a:pPr>
            <a:r>
              <a:t>Technologies used to build and manage the web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FFC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HTML — page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6060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FFC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CSS — styling and responsive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204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FFC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JavaScript — interaction and analysis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5204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FFC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Visual Studio Code — development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348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FFC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GitHub — source-code hosting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457200"/>
            <a:ext cx="1737360" cy="5852160"/>
          </a:xfrm>
          <a:prstGeom prst="roundRect">
            <a:avLst/>
          </a:prstGeom>
          <a:solidFill>
            <a:srgbClr val="0A142A"/>
          </a:solidFill>
          <a:ln>
            <a:solidFill>
              <a:srgbClr val="FFC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0" y="1005840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783080"/>
            <a:ext cx="164592" cy="164592"/>
          </a:xfrm>
          <a:prstGeom prst="ellipse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0" y="2560320"/>
            <a:ext cx="164592" cy="164592"/>
          </a:xfrm>
          <a:prstGeom prst="ellipse">
            <a:avLst/>
          </a:prstGeom>
          <a:solidFill>
            <a:srgbClr val="FF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89920" y="3337560"/>
            <a:ext cx="164592" cy="164592"/>
          </a:xfrm>
          <a:prstGeom prst="ellipse">
            <a:avLst/>
          </a:prstGeom>
          <a:solidFill>
            <a:srgbClr val="2DE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0" y="4114800"/>
            <a:ext cx="164592" cy="164592"/>
          </a:xfrm>
          <a:prstGeom prst="ellipse">
            <a:avLst/>
          </a:prstGeom>
          <a:solidFill>
            <a:srgbClr val="FFC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0" y="6080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CD46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6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8961120" cy="777240"/>
          </a:xfrm>
          <a:prstGeom prst="roundRect">
            <a:avLst/>
          </a:prstGeom>
          <a:solidFill>
            <a:srgbClr val="0F1C37"/>
          </a:solidFill>
          <a:ln w="2540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5F8FF"/>
                </a:solidFill>
              </a:defRPr>
            </a:pPr>
            <a:r>
              <a:t>06 | WORKING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8732520" cy="914400"/>
          </a:xfrm>
          <a:prstGeom prst="roundRect">
            <a:avLst/>
          </a:prstGeom>
          <a:solidFill>
            <a:srgbClr val="0B1932"/>
          </a:solidFill>
          <a:ln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5F8FF"/>
                </a:solidFill>
              </a:defRPr>
            </a:pPr>
            <a:r>
              <a:t>A simple user-to-result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1. User opens ScanShield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6060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2. User enters a URL or suspicious content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204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3. JavaScript performs implemented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5204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4. ScanShield evaluates available indicators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348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5. Result and warnings are displayed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457200"/>
            <a:ext cx="1737360" cy="5852160"/>
          </a:xfrm>
          <a:prstGeom prst="roundRect">
            <a:avLst/>
          </a:prstGeom>
          <a:solidFill>
            <a:srgbClr val="0A142A"/>
          </a:solidFill>
          <a:ln>
            <a:solidFill>
              <a:srgbClr val="46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0" y="1005840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783080"/>
            <a:ext cx="164592" cy="164592"/>
          </a:xfrm>
          <a:prstGeom prst="ellipse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0" y="2560320"/>
            <a:ext cx="164592" cy="164592"/>
          </a:xfrm>
          <a:prstGeom prst="ellipse">
            <a:avLst/>
          </a:prstGeom>
          <a:solidFill>
            <a:srgbClr val="FF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89920" y="3337560"/>
            <a:ext cx="164592" cy="164592"/>
          </a:xfrm>
          <a:prstGeom prst="ellipse">
            <a:avLst/>
          </a:prstGeom>
          <a:solidFill>
            <a:srgbClr val="2DE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0" y="4114800"/>
            <a:ext cx="164592" cy="164592"/>
          </a:xfrm>
          <a:prstGeom prst="ellipse">
            <a:avLst/>
          </a:prstGeom>
          <a:solidFill>
            <a:srgbClr val="FFC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0" y="6080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67DFF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8961120" cy="777240"/>
          </a:xfrm>
          <a:prstGeom prst="roundRect">
            <a:avLst/>
          </a:prstGeom>
          <a:solidFill>
            <a:srgbClr val="0F1C37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5F8FF"/>
                </a:solidFill>
              </a:defRPr>
            </a:pPr>
            <a:r>
              <a:t>07 | TESTING &amp;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8732520" cy="914400"/>
          </a:xfrm>
          <a:prstGeom prst="roundRect">
            <a:avLst/>
          </a:prstGeom>
          <a:solidFill>
            <a:srgbClr val="0B1932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5F8FF"/>
                </a:solidFill>
              </a:defRPr>
            </a:pPr>
            <a:r>
              <a:t>Testing should cover valid, suspicious and invalid inputs.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Normal-looking URL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6060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Suspicious-looking URL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204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Empty or invalid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5204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Different browsers and screen sizes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348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Add actual home/scan/result screenshots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457200"/>
            <a:ext cx="1737360" cy="5852160"/>
          </a:xfrm>
          <a:prstGeom prst="roundRect">
            <a:avLst/>
          </a:prstGeom>
          <a:solidFill>
            <a:srgbClr val="0A142A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0" y="1005840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783080"/>
            <a:ext cx="164592" cy="164592"/>
          </a:xfrm>
          <a:prstGeom prst="ellipse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0" y="2560320"/>
            <a:ext cx="164592" cy="164592"/>
          </a:xfrm>
          <a:prstGeom prst="ellipse">
            <a:avLst/>
          </a:prstGeom>
          <a:solidFill>
            <a:srgbClr val="FF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89920" y="3337560"/>
            <a:ext cx="164592" cy="164592"/>
          </a:xfrm>
          <a:prstGeom prst="ellipse">
            <a:avLst/>
          </a:prstGeom>
          <a:solidFill>
            <a:srgbClr val="2DE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0" y="4114800"/>
            <a:ext cx="164592" cy="164592"/>
          </a:xfrm>
          <a:prstGeom prst="ellipse">
            <a:avLst/>
          </a:prstGeom>
          <a:solidFill>
            <a:srgbClr val="FFC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0" y="6080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8961120" cy="777240"/>
          </a:xfrm>
          <a:prstGeom prst="roundRect">
            <a:avLst/>
          </a:prstGeom>
          <a:solidFill>
            <a:srgbClr val="0F1C37"/>
          </a:solidFill>
          <a:ln w="25400">
            <a:solidFill>
              <a:srgbClr val="FF4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5F8FF"/>
                </a:solidFill>
              </a:defRPr>
            </a:pPr>
            <a:r>
              <a:t>08 | 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8732520" cy="914400"/>
          </a:xfrm>
          <a:prstGeom prst="roundRect">
            <a:avLst/>
          </a:prstGeom>
          <a:solidFill>
            <a:srgbClr val="0B1932"/>
          </a:solidFill>
          <a:ln>
            <a:solidFill>
              <a:srgbClr val="FF4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5F8FF"/>
                </a:solidFill>
              </a:defRPr>
            </a:pPr>
            <a:r>
              <a:t>ScanShield demonstrates a practical cybersecurity-awareness solution through a simple web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FF4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Simple and accessible for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6060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FF4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Stronger URL reputation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204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FF4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Threat-intelligence API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5204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FF4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Phishing-domain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34840"/>
            <a:ext cx="416052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FF4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Scan history and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457200"/>
            <a:ext cx="1737360" cy="5852160"/>
          </a:xfrm>
          <a:prstGeom prst="roundRect">
            <a:avLst/>
          </a:prstGeom>
          <a:solidFill>
            <a:srgbClr val="0A142A"/>
          </a:solidFill>
          <a:ln>
            <a:solidFill>
              <a:srgbClr val="FF4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0" y="1005840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1783080"/>
            <a:ext cx="164592" cy="164592"/>
          </a:xfrm>
          <a:prstGeom prst="ellipse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0" y="2560320"/>
            <a:ext cx="164592" cy="164592"/>
          </a:xfrm>
          <a:prstGeom prst="ellipse">
            <a:avLst/>
          </a:prstGeom>
          <a:solidFill>
            <a:srgbClr val="FF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89920" y="3337560"/>
            <a:ext cx="164592" cy="164592"/>
          </a:xfrm>
          <a:prstGeom prst="ellipse">
            <a:avLst/>
          </a:prstGeom>
          <a:solidFill>
            <a:srgbClr val="2DE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0" y="4114800"/>
            <a:ext cx="164592" cy="164592"/>
          </a:xfrm>
          <a:prstGeom prst="ellipse">
            <a:avLst/>
          </a:prstGeom>
          <a:solidFill>
            <a:srgbClr val="FFC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0" y="6080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46AA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8961120" cy="777240"/>
          </a:xfrm>
          <a:prstGeom prst="roundRect">
            <a:avLst/>
          </a:prstGeom>
          <a:solidFill>
            <a:srgbClr val="0F1C37"/>
          </a:solidFill>
          <a:ln w="2540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5F8FF"/>
                </a:solidFill>
              </a:defRPr>
            </a:pPr>
            <a:r>
              <a:t>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8732520" cy="914400"/>
          </a:xfrm>
          <a:prstGeom prst="roundRect">
            <a:avLst/>
          </a:prstGeom>
          <a:solidFill>
            <a:srgbClr val="0B1932"/>
          </a:solidFill>
          <a:ln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5F8FF"/>
                </a:solidFill>
              </a:defRPr>
            </a:pPr>
            <a:r>
              <a:t>Stay Alert | Stay Safe | ScanShield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8549640" cy="713232"/>
          </a:xfrm>
          <a:prstGeom prst="roundRect">
            <a:avLst/>
          </a:prstGeom>
          <a:solidFill>
            <a:srgbClr val="0F1C37"/>
          </a:solidFill>
          <a:ln w="16510"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8FF"/>
                </a:solidFill>
              </a:defRPr>
            </a:pPr>
            <a:r>
              <a:t>✓  Presented by: Trisha Dubey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737360" cy="5852160"/>
          </a:xfrm>
          <a:prstGeom prst="roundRect">
            <a:avLst/>
          </a:prstGeom>
          <a:solidFill>
            <a:srgbClr val="0A142A"/>
          </a:solidFill>
          <a:ln>
            <a:solidFill>
              <a:srgbClr val="AA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0" y="1005840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9920" y="1783080"/>
            <a:ext cx="164592" cy="164592"/>
          </a:xfrm>
          <a:prstGeom prst="ellipse">
            <a:avLst/>
          </a:prstGeom>
          <a:solidFill>
            <a:srgbClr val="AA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0" y="2560320"/>
            <a:ext cx="164592" cy="164592"/>
          </a:xfrm>
          <a:prstGeom prst="ellipse">
            <a:avLst/>
          </a:prstGeom>
          <a:solidFill>
            <a:srgbClr val="FF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0" y="3337560"/>
            <a:ext cx="164592" cy="164592"/>
          </a:xfrm>
          <a:prstGeom prst="ellipse">
            <a:avLst/>
          </a:prstGeom>
          <a:solidFill>
            <a:srgbClr val="2DE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0" y="4114800"/>
            <a:ext cx="164592" cy="164592"/>
          </a:xfrm>
          <a:prstGeom prst="ellipse">
            <a:avLst/>
          </a:prstGeom>
          <a:solidFill>
            <a:srgbClr val="FFC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0" y="6080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A5A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